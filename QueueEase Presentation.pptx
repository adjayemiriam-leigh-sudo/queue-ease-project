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Then go straight to the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and pause. Then say this is the problem QueueEase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companies use expensive queue systems. Small businesses use a notebook, shouting names or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always know where they stand, and staff always know who is next. Do the live demo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service management tool: it improves how a business handles demand, not just how a queue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then show them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Runs in any browser with no special hardware. Mention that a real database and SMS alerts would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elvetica" pitchFamily="34" charset="0"/>
                <a:ea typeface="Helvetica" pitchFamily="34" charset="-122"/>
                <a:cs typeface="Helvetic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Helvetica" pitchFamily="34" charset="0"/>
                <a:ea typeface="Helvetica" pitchFamily="34" charset="-122"/>
                <a:cs typeface="Helvetic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1427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9E0B"/>
                </a:solidFill>
                <a:latin typeface="Helvetica" pitchFamily="34" charset="0"/>
                <a:ea typeface="Helvetica" pitchFamily="34" charset="-122"/>
                <a:cs typeface="Helvetica" pitchFamily="34" charset="-120"/>
              </a:rPr>
              <a:t>END-OF-CLASS PROJECT</a:t>
            </a:r>
            <a:endParaRPr lang="en-US" sz="1400" dirty="0"/>
          </a:p>
        </p:txBody>
      </p:sp>
      <p:sp>
        <p:nvSpPr>
          <p:cNvPr id="3" name="Text 1"/>
          <p:cNvSpPr/>
          <p:nvPr>
            <p:ph type="title"/>
          </p:nvPr>
        </p:nvSpPr>
        <p:spPr>
          <a:xfrm>
            <a:off x="812800" y="2517180"/>
            <a:ext cx="10883392" cy="1145514"/>
          </a:xfrm>
          <a:prstGeom prst="rect">
            <a:avLst/>
          </a:prstGeom>
          <a:noFill/>
          <a:ln/>
        </p:spPr>
        <p:txBody>
          <a:bodyPr wrap="square" lIns="0" tIns="0" rIns="0" bIns="0" rtlCol="0" anchor="t">
            <a:normAutofit/>
          </a:bodyPr>
          <a:lstStyle/>
          <a:p>
            <a:pPr algn="l" indent="0" marL="0">
              <a:lnSpc>
                <a:spcPts val="8820"/>
              </a:lnSpc>
              <a:buNone/>
            </a:pPr>
            <a:r>
              <a:rPr lang="en-US" sz="8400" b="1" i="0" dirty="0">
                <a:solidFill>
                  <a:srgbClr val="F6F4EE"/>
                </a:solidFill>
                <a:latin typeface="Helvetica" pitchFamily="34" charset="0"/>
                <a:ea typeface="Helvetica" pitchFamily="34" charset="-122"/>
                <a:cs typeface="Helvetica" pitchFamily="34" charset="-120"/>
              </a:rPr>
              <a:t>QueueEase</a:t>
            </a:r>
            <a:endParaRPr lang="en-US" sz="8400" dirty="0"/>
          </a:p>
        </p:txBody>
      </p:sp>
      <p:sp>
        <p:nvSpPr>
          <p:cNvPr id="4" name="Text 2"/>
          <p:cNvSpPr/>
          <p:nvPr/>
        </p:nvSpPr>
        <p:spPr>
          <a:xfrm>
            <a:off x="812800" y="3891293"/>
            <a:ext cx="10883392" cy="421614"/>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6F4EE"/>
                </a:solidFill>
                <a:latin typeface="Helvetica" pitchFamily="34" charset="0"/>
                <a:ea typeface="Helvetica" pitchFamily="34" charset="-122"/>
                <a:cs typeface="Helvetica" pitchFamily="34" charset="-120"/>
              </a:rPr>
              <a:t>A simple digital queue for small businesses</a:t>
            </a:r>
            <a:endParaRPr lang="en-US" sz="2400" dirty="0"/>
          </a:p>
        </p:txBody>
      </p:sp>
      <p:sp>
        <p:nvSpPr>
          <p:cNvPr id="5" name="Text 3"/>
          <p:cNvSpPr/>
          <p:nvPr/>
        </p:nvSpPr>
        <p:spPr>
          <a:xfrm>
            <a:off x="812800" y="4541507"/>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1E3"/>
                </a:solidFill>
                <a:latin typeface="Helvetica" pitchFamily="34" charset="0"/>
                <a:ea typeface="Helvetica" pitchFamily="34" charset="-122"/>
                <a:cs typeface="Helvetica" pitchFamily="34" charset="-120"/>
              </a:rPr>
              <a:t>Presented by Miriam Adjaye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608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9E0B"/>
                </a:solidFill>
                <a:latin typeface="Helvetica" pitchFamily="34" charset="0"/>
                <a:ea typeface="Helvetica" pitchFamily="34" charset="-122"/>
                <a:cs typeface="Helvetica" pitchFamily="34" charset="-120"/>
              </a:rPr>
              <a:t>SCENARIO</a:t>
            </a:r>
            <a:endParaRPr lang="en-US" sz="1400" dirty="0"/>
          </a:p>
        </p:txBody>
      </p:sp>
      <p:sp>
        <p:nvSpPr>
          <p:cNvPr id="3" name="Text 1"/>
          <p:cNvSpPr/>
          <p:nvPr>
            <p:ph type="title"/>
          </p:nvPr>
        </p:nvSpPr>
        <p:spPr>
          <a:xfrm>
            <a:off x="812800" y="2463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Helvetica" pitchFamily="34" charset="0"/>
                <a:ea typeface="Helvetica" pitchFamily="34" charset="-122"/>
                <a:cs typeface="Helvetica" pitchFamily="34" charset="-120"/>
              </a:rPr>
              <a:t>A busy Saturday at the barbershop</a:t>
            </a:r>
            <a:endParaRPr lang="en-US" sz="3600" dirty="0"/>
          </a:p>
        </p:txBody>
      </p:sp>
      <p:sp>
        <p:nvSpPr>
          <p:cNvPr id="4" name="Text 2"/>
          <p:cNvSpPr/>
          <p:nvPr/>
        </p:nvSpPr>
        <p:spPr>
          <a:xfrm>
            <a:off x="812800" y="3220707"/>
            <a:ext cx="10883392"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6F4EE"/>
                </a:solidFill>
                <a:latin typeface="Helvetica" pitchFamily="34" charset="0"/>
                <a:ea typeface="Helvetica" pitchFamily="34" charset="-122"/>
                <a:cs typeface="Helvetica" pitchFamily="34" charset="-120"/>
              </a:rPr>
              <a:t>Eleven customers are waiting. Nobody knows who arrived first. One man has waited 90 minutes with no idea when he will be served. He leaves. Another walks in and argues that he was there first.</a:t>
            </a:r>
            <a:endParaRPr lang="en-US" sz="2000" dirty="0"/>
          </a:p>
        </p:txBody>
      </p:sp>
      <p:sp>
        <p:nvSpPr>
          <p:cNvPr id="5" name="Text 3"/>
          <p:cNvSpPr/>
          <p:nvPr/>
        </p:nvSpPr>
        <p:spPr>
          <a:xfrm>
            <a:off x="812800" y="4541507"/>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9E0B"/>
                </a:solidFill>
                <a:latin typeface="Helvetica" pitchFamily="34" charset="0"/>
                <a:ea typeface="Helvetica" pitchFamily="34" charset="-122"/>
                <a:cs typeface="Helvetica" pitchFamily="34" charset="-120"/>
              </a:rPr>
              <a:t>Has this ever happened to you?</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The problem: unmanaged waiting lines</a:t>
            </a:r>
            <a:endParaRPr lang="en-US" sz="3600" dirty="0"/>
          </a:p>
        </p:txBody>
      </p:sp>
      <p:sp>
        <p:nvSpPr>
          <p:cNvPr id="3" name="Shape 1"/>
          <p:cNvSpPr/>
          <p:nvPr/>
        </p:nvSpPr>
        <p:spPr>
          <a:xfrm>
            <a:off x="815975" y="1674482"/>
            <a:ext cx="5200650" cy="1355923"/>
          </a:xfrm>
          <a:prstGeom prst="roundRect">
            <a:avLst>
              <a:gd name="adj" fmla="val 7259"/>
            </a:avLst>
          </a:prstGeom>
          <a:solidFill>
            <a:srgbClr val="FFFFFF"/>
          </a:solidFill>
          <a:ln w="6350">
            <a:solidFill>
              <a:srgbClr val="D9D6CC"/>
            </a:solidFill>
            <a:prstDash val="solid"/>
          </a:ln>
        </p:spPr>
      </p:sp>
      <p:sp>
        <p:nvSpPr>
          <p:cNvPr id="4" name="Text 2"/>
          <p:cNvSpPr/>
          <p:nvPr/>
        </p:nvSpPr>
        <p:spPr>
          <a:xfrm>
            <a:off x="1071033" y="1929541"/>
            <a:ext cx="4831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Helvetica" pitchFamily="34" charset="0"/>
                <a:ea typeface="Helvetica" pitchFamily="34" charset="-122"/>
                <a:cs typeface="Helvetica" pitchFamily="34" charset="-120"/>
              </a:rPr>
              <a:t>No clear order</a:t>
            </a:r>
            <a:endParaRPr lang="en-US" sz="1800" dirty="0"/>
          </a:p>
        </p:txBody>
      </p:sp>
      <p:sp>
        <p:nvSpPr>
          <p:cNvPr id="5" name="Text 3"/>
          <p:cNvSpPr/>
          <p:nvPr/>
        </p:nvSpPr>
        <p:spPr>
          <a:xfrm>
            <a:off x="1071033" y="228004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A5568"/>
                </a:solidFill>
                <a:latin typeface="Helvetica" pitchFamily="34" charset="0"/>
                <a:ea typeface="Helvetica" pitchFamily="34" charset="-122"/>
                <a:cs typeface="Helvetica" pitchFamily="34" charset="-120"/>
              </a:rPr>
              <a:t>People argue over who arrived first.</a:t>
            </a:r>
            <a:endParaRPr lang="en-US" sz="1500" dirty="0"/>
          </a:p>
        </p:txBody>
      </p:sp>
      <p:sp>
        <p:nvSpPr>
          <p:cNvPr id="6" name="Shape 4"/>
          <p:cNvSpPr/>
          <p:nvPr/>
        </p:nvSpPr>
        <p:spPr>
          <a:xfrm>
            <a:off x="6175375" y="1674482"/>
            <a:ext cx="5200650" cy="1355923"/>
          </a:xfrm>
          <a:prstGeom prst="roundRect">
            <a:avLst>
              <a:gd name="adj" fmla="val 7259"/>
            </a:avLst>
          </a:prstGeom>
          <a:solidFill>
            <a:srgbClr val="FFFFFF"/>
          </a:solidFill>
          <a:ln w="6350">
            <a:solidFill>
              <a:srgbClr val="D9D6CC"/>
            </a:solidFill>
            <a:prstDash val="solid"/>
          </a:ln>
        </p:spPr>
      </p:sp>
      <p:sp>
        <p:nvSpPr>
          <p:cNvPr id="7" name="Text 5"/>
          <p:cNvSpPr/>
          <p:nvPr/>
        </p:nvSpPr>
        <p:spPr>
          <a:xfrm>
            <a:off x="6430433" y="1929541"/>
            <a:ext cx="4831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Helvetica" pitchFamily="34" charset="0"/>
                <a:ea typeface="Helvetica" pitchFamily="34" charset="-122"/>
                <a:cs typeface="Helvetica" pitchFamily="34" charset="-120"/>
              </a:rPr>
              <a:t>Unknown waits</a:t>
            </a:r>
            <a:endParaRPr lang="en-US" sz="1800" dirty="0"/>
          </a:p>
        </p:txBody>
      </p:sp>
      <p:sp>
        <p:nvSpPr>
          <p:cNvPr id="8" name="Text 6"/>
          <p:cNvSpPr/>
          <p:nvPr/>
        </p:nvSpPr>
        <p:spPr>
          <a:xfrm>
            <a:off x="6430433" y="2280047"/>
            <a:ext cx="483124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A5568"/>
                </a:solidFill>
                <a:latin typeface="Helvetica" pitchFamily="34" charset="0"/>
                <a:ea typeface="Helvetica" pitchFamily="34" charset="-122"/>
                <a:cs typeface="Helvetica" pitchFamily="34" charset="-120"/>
              </a:rPr>
              <a:t>Customers cannot tell how long it will take, so they leave.</a:t>
            </a:r>
            <a:endParaRPr lang="en-US" sz="1500" dirty="0"/>
          </a:p>
        </p:txBody>
      </p:sp>
      <p:sp>
        <p:nvSpPr>
          <p:cNvPr id="9" name="Shape 7"/>
          <p:cNvSpPr/>
          <p:nvPr/>
        </p:nvSpPr>
        <p:spPr>
          <a:xfrm>
            <a:off x="815975" y="3189156"/>
            <a:ext cx="5200650" cy="1108273"/>
          </a:xfrm>
          <a:prstGeom prst="roundRect">
            <a:avLst>
              <a:gd name="adj" fmla="val 8881"/>
            </a:avLst>
          </a:prstGeom>
          <a:solidFill>
            <a:srgbClr val="FFFFFF"/>
          </a:solidFill>
          <a:ln w="6350">
            <a:solidFill>
              <a:srgbClr val="D9D6CC"/>
            </a:solidFill>
            <a:prstDash val="solid"/>
          </a:ln>
        </p:spPr>
      </p:sp>
      <p:sp>
        <p:nvSpPr>
          <p:cNvPr id="10" name="Text 8"/>
          <p:cNvSpPr/>
          <p:nvPr/>
        </p:nvSpPr>
        <p:spPr>
          <a:xfrm>
            <a:off x="1071033" y="3444215"/>
            <a:ext cx="4831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Helvetica" pitchFamily="34" charset="0"/>
                <a:ea typeface="Helvetica" pitchFamily="34" charset="-122"/>
                <a:cs typeface="Helvetica" pitchFamily="34" charset="-120"/>
              </a:rPr>
              <a:t>Staff distracted</a:t>
            </a:r>
            <a:endParaRPr lang="en-US" sz="1800" dirty="0"/>
          </a:p>
        </p:txBody>
      </p:sp>
      <p:sp>
        <p:nvSpPr>
          <p:cNvPr id="11" name="Text 9"/>
          <p:cNvSpPr/>
          <p:nvPr/>
        </p:nvSpPr>
        <p:spPr>
          <a:xfrm>
            <a:off x="1071033" y="3794720"/>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A5568"/>
                </a:solidFill>
                <a:latin typeface="Helvetica" pitchFamily="34" charset="0"/>
                <a:ea typeface="Helvetica" pitchFamily="34" charset="-122"/>
                <a:cs typeface="Helvetica" pitchFamily="34" charset="-120"/>
              </a:rPr>
              <a:t>Time goes to managing the crowd instead of serving.</a:t>
            </a:r>
            <a:endParaRPr lang="en-US" sz="1500" dirty="0"/>
          </a:p>
        </p:txBody>
      </p:sp>
      <p:sp>
        <p:nvSpPr>
          <p:cNvPr id="12" name="Shape 10"/>
          <p:cNvSpPr/>
          <p:nvPr/>
        </p:nvSpPr>
        <p:spPr>
          <a:xfrm>
            <a:off x="6175375" y="3189156"/>
            <a:ext cx="5200650" cy="1108273"/>
          </a:xfrm>
          <a:prstGeom prst="roundRect">
            <a:avLst>
              <a:gd name="adj" fmla="val 8881"/>
            </a:avLst>
          </a:prstGeom>
          <a:solidFill>
            <a:srgbClr val="FFFFFF"/>
          </a:solidFill>
          <a:ln w="6350">
            <a:solidFill>
              <a:srgbClr val="D9D6CC"/>
            </a:solidFill>
            <a:prstDash val="solid"/>
          </a:ln>
        </p:spPr>
      </p:sp>
      <p:sp>
        <p:nvSpPr>
          <p:cNvPr id="13" name="Text 11"/>
          <p:cNvSpPr/>
          <p:nvPr/>
        </p:nvSpPr>
        <p:spPr>
          <a:xfrm>
            <a:off x="6430433" y="3444215"/>
            <a:ext cx="4831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Helvetica" pitchFamily="34" charset="0"/>
                <a:ea typeface="Helvetica" pitchFamily="34" charset="-122"/>
                <a:cs typeface="Helvetica" pitchFamily="34" charset="-120"/>
              </a:rPr>
              <a:t>No data</a:t>
            </a:r>
            <a:endParaRPr lang="en-US" sz="1800" dirty="0"/>
          </a:p>
        </p:txBody>
      </p:sp>
      <p:sp>
        <p:nvSpPr>
          <p:cNvPr id="14" name="Text 12"/>
          <p:cNvSpPr/>
          <p:nvPr/>
        </p:nvSpPr>
        <p:spPr>
          <a:xfrm>
            <a:off x="6430433" y="3794720"/>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A5568"/>
                </a:solidFill>
                <a:latin typeface="Helvetica" pitchFamily="34" charset="0"/>
                <a:ea typeface="Helvetica" pitchFamily="34" charset="-122"/>
                <a:cs typeface="Helvetica" pitchFamily="34" charset="-120"/>
              </a:rPr>
              <a:t>Owners cannot see busy hours or average waits.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The solution: a digital queue anyone can use</a:t>
            </a:r>
            <a:endParaRPr lang="en-US" sz="3600" dirty="0"/>
          </a:p>
        </p:txBody>
      </p:sp>
      <p:sp>
        <p:nvSpPr>
          <p:cNvPr id="3" name="Shape 1"/>
          <p:cNvSpPr/>
          <p:nvPr/>
        </p:nvSpPr>
        <p:spPr>
          <a:xfrm>
            <a:off x="815975" y="1623682"/>
            <a:ext cx="5200650" cy="1832173"/>
          </a:xfrm>
          <a:prstGeom prst="roundRect">
            <a:avLst>
              <a:gd name="adj" fmla="val 5372"/>
            </a:avLst>
          </a:prstGeom>
          <a:solidFill>
            <a:srgbClr val="FFFFFF"/>
          </a:solidFill>
          <a:ln w="6350">
            <a:solidFill>
              <a:srgbClr val="D9D6CC"/>
            </a:solidFill>
            <a:prstDash val="solid"/>
          </a:ln>
        </p:spPr>
      </p:sp>
      <p:sp>
        <p:nvSpPr>
          <p:cNvPr id="4" name="Text 2"/>
          <p:cNvSpPr/>
          <p:nvPr/>
        </p:nvSpPr>
        <p:spPr>
          <a:xfrm>
            <a:off x="1071033" y="1878741"/>
            <a:ext cx="4831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63EB"/>
                </a:solidFill>
                <a:latin typeface="Helvetica" pitchFamily="34" charset="0"/>
                <a:ea typeface="Helvetica" pitchFamily="34" charset="-122"/>
                <a:cs typeface="Helvetica" pitchFamily="34" charset="-120"/>
              </a:rPr>
              <a:t>For customers</a:t>
            </a:r>
            <a:endParaRPr lang="en-US" sz="1800" dirty="0"/>
          </a:p>
        </p:txBody>
      </p:sp>
      <p:sp>
        <p:nvSpPr>
          <p:cNvPr id="5" name="Text 3"/>
          <p:cNvSpPr/>
          <p:nvPr/>
        </p:nvSpPr>
        <p:spPr>
          <a:xfrm>
            <a:off x="1071033" y="225464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Join the queue and get a ticket number</a:t>
            </a:r>
            <a:endParaRPr lang="en-US" sz="1500" dirty="0"/>
          </a:p>
        </p:txBody>
      </p:sp>
      <p:sp>
        <p:nvSpPr>
          <p:cNvPr id="6" name="Text 4"/>
          <p:cNvSpPr/>
          <p:nvPr/>
        </p:nvSpPr>
        <p:spPr>
          <a:xfrm>
            <a:off x="1071033" y="260389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Prebook a time slot</a:t>
            </a:r>
            <a:endParaRPr lang="en-US" sz="1500" dirty="0"/>
          </a:p>
        </p:txBody>
      </p:sp>
      <p:sp>
        <p:nvSpPr>
          <p:cNvPr id="7" name="Text 5"/>
          <p:cNvSpPr/>
          <p:nvPr/>
        </p:nvSpPr>
        <p:spPr>
          <a:xfrm>
            <a:off x="1071033" y="295314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Track progress and see the estimated wait</a:t>
            </a:r>
            <a:endParaRPr lang="en-US" sz="1500" dirty="0"/>
          </a:p>
        </p:txBody>
      </p:sp>
      <p:sp>
        <p:nvSpPr>
          <p:cNvPr id="8" name="Shape 6"/>
          <p:cNvSpPr/>
          <p:nvPr/>
        </p:nvSpPr>
        <p:spPr>
          <a:xfrm>
            <a:off x="6175375" y="1623682"/>
            <a:ext cx="5200650" cy="1832173"/>
          </a:xfrm>
          <a:prstGeom prst="roundRect">
            <a:avLst>
              <a:gd name="adj" fmla="val 5372"/>
            </a:avLst>
          </a:prstGeom>
          <a:solidFill>
            <a:srgbClr val="FFFFFF"/>
          </a:solidFill>
          <a:ln w="6350">
            <a:solidFill>
              <a:srgbClr val="D9D6CC"/>
            </a:solidFill>
            <a:prstDash val="solid"/>
          </a:ln>
        </p:spPr>
      </p:sp>
      <p:sp>
        <p:nvSpPr>
          <p:cNvPr id="9" name="Text 7"/>
          <p:cNvSpPr/>
          <p:nvPr/>
        </p:nvSpPr>
        <p:spPr>
          <a:xfrm>
            <a:off x="6430433" y="1878741"/>
            <a:ext cx="483124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63EB"/>
                </a:solidFill>
                <a:latin typeface="Helvetica" pitchFamily="34" charset="0"/>
                <a:ea typeface="Helvetica" pitchFamily="34" charset="-122"/>
                <a:cs typeface="Helvetica" pitchFamily="34" charset="-120"/>
              </a:rPr>
              <a:t>For staff</a:t>
            </a:r>
            <a:endParaRPr lang="en-US" sz="1800" dirty="0"/>
          </a:p>
        </p:txBody>
      </p:sp>
      <p:sp>
        <p:nvSpPr>
          <p:cNvPr id="10" name="Text 8"/>
          <p:cNvSpPr/>
          <p:nvPr/>
        </p:nvSpPr>
        <p:spPr>
          <a:xfrm>
            <a:off x="6430433" y="225464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Serve next with one click</a:t>
            </a:r>
            <a:endParaRPr lang="en-US" sz="1500" dirty="0"/>
          </a:p>
        </p:txBody>
      </p:sp>
      <p:sp>
        <p:nvSpPr>
          <p:cNvPr id="11" name="Text 9"/>
          <p:cNvSpPr/>
          <p:nvPr/>
        </p:nvSpPr>
        <p:spPr>
          <a:xfrm>
            <a:off x="6430433" y="260389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Remove no-shows</a:t>
            </a:r>
            <a:endParaRPr lang="en-US" sz="1500" dirty="0"/>
          </a:p>
        </p:txBody>
      </p:sp>
      <p:sp>
        <p:nvSpPr>
          <p:cNvPr id="12" name="Text 10"/>
          <p:cNvSpPr/>
          <p:nvPr/>
        </p:nvSpPr>
        <p:spPr>
          <a:xfrm>
            <a:off x="6430433" y="2953147"/>
            <a:ext cx="4831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Set how long each service takes</a:t>
            </a:r>
            <a:endParaRPr lang="en-US" sz="1500" dirty="0"/>
          </a:p>
        </p:txBody>
      </p:sp>
      <p:sp>
        <p:nvSpPr>
          <p:cNvPr id="13" name="Text 11"/>
          <p:cNvSpPr/>
          <p:nvPr/>
        </p:nvSpPr>
        <p:spPr>
          <a:xfrm>
            <a:off x="812800" y="3763831"/>
            <a:ext cx="10566400" cy="640027"/>
          </a:xfrm>
          <a:prstGeom prst="roundRect">
            <a:avLst>
              <a:gd name="adj" fmla="val 15874"/>
            </a:avLst>
          </a:prstGeom>
          <a:solidFill>
            <a:srgbClr val="2563EB"/>
          </a:solidFill>
          <a:ln/>
        </p:spPr>
        <p:txBody>
          <a:bodyPr wrap="square" lIns="224242" tIns="148042" rIns="0" bIns="122642" rtlCol="0" anchor="t">
            <a:normAutofit/>
          </a:bodyPr>
          <a:lstStyle/>
          <a:p>
            <a:pPr algn="l" indent="0" marL="0">
              <a:lnSpc>
                <a:spcPts val="2240"/>
              </a:lnSpc>
              <a:buNone/>
            </a:pPr>
            <a:r>
              <a:rPr lang="en-US" sz="1600" b="1" dirty="0">
                <a:solidFill>
                  <a:srgbClr val="FFFFFF"/>
                </a:solidFill>
                <a:latin typeface="Helvetica" pitchFamily="34" charset="0"/>
                <a:ea typeface="Helvetica" pitchFamily="34" charset="-122"/>
                <a:cs typeface="Helvetica" pitchFamily="34" charset="-120"/>
              </a:rPr>
              <a:t>Analytics panel: average wait, customers served, most popular service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Sector: Business &amp; Operations Management / Service Management</a:t>
            </a:r>
            <a:endParaRPr lang="en-US" sz="3600" dirty="0"/>
          </a:p>
        </p:txBody>
      </p:sp>
      <p:sp>
        <p:nvSpPr>
          <p:cNvPr id="3" name="Shape 1"/>
          <p:cNvSpPr/>
          <p:nvPr/>
        </p:nvSpPr>
        <p:spPr>
          <a:xfrm>
            <a:off x="815975" y="2177390"/>
            <a:ext cx="3414183" cy="1355923"/>
          </a:xfrm>
          <a:prstGeom prst="roundRect">
            <a:avLst>
              <a:gd name="adj" fmla="val 7259"/>
            </a:avLst>
          </a:prstGeom>
          <a:solidFill>
            <a:srgbClr val="FFFFFF"/>
          </a:solidFill>
          <a:ln w="6350">
            <a:solidFill>
              <a:srgbClr val="D9D6CC"/>
            </a:solidFill>
            <a:prstDash val="solid"/>
          </a:ln>
        </p:spPr>
      </p:sp>
      <p:sp>
        <p:nvSpPr>
          <p:cNvPr id="4" name="Text 2"/>
          <p:cNvSpPr/>
          <p:nvPr/>
        </p:nvSpPr>
        <p:spPr>
          <a:xfrm>
            <a:off x="1071033" y="2432447"/>
            <a:ext cx="299118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63EB"/>
                </a:solidFill>
                <a:latin typeface="Helvetica" pitchFamily="34" charset="0"/>
                <a:ea typeface="Helvetica" pitchFamily="34" charset="-122"/>
                <a:cs typeface="Helvetica" pitchFamily="34" charset="-120"/>
              </a:rPr>
              <a:t>Who it serves</a:t>
            </a:r>
            <a:endParaRPr lang="en-US" sz="1800" dirty="0"/>
          </a:p>
        </p:txBody>
      </p:sp>
      <p:sp>
        <p:nvSpPr>
          <p:cNvPr id="5" name="Text 3"/>
          <p:cNvSpPr/>
          <p:nvPr/>
        </p:nvSpPr>
        <p:spPr>
          <a:xfrm>
            <a:off x="1071033" y="2782956"/>
            <a:ext cx="299118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Salons, barbershops, clinics, pharmacies and repair shops</a:t>
            </a:r>
            <a:endParaRPr lang="en-US" sz="1500" dirty="0"/>
          </a:p>
        </p:txBody>
      </p:sp>
      <p:sp>
        <p:nvSpPr>
          <p:cNvPr id="6" name="Shape 4"/>
          <p:cNvSpPr/>
          <p:nvPr/>
        </p:nvSpPr>
        <p:spPr>
          <a:xfrm>
            <a:off x="4388908" y="2177390"/>
            <a:ext cx="3414183" cy="1355923"/>
          </a:xfrm>
          <a:prstGeom prst="roundRect">
            <a:avLst>
              <a:gd name="adj" fmla="val 7259"/>
            </a:avLst>
          </a:prstGeom>
          <a:solidFill>
            <a:srgbClr val="FFFFFF"/>
          </a:solidFill>
          <a:ln w="6350">
            <a:solidFill>
              <a:srgbClr val="D9D6CC"/>
            </a:solidFill>
            <a:prstDash val="solid"/>
          </a:ln>
        </p:spPr>
      </p:sp>
      <p:sp>
        <p:nvSpPr>
          <p:cNvPr id="7" name="Text 5"/>
          <p:cNvSpPr/>
          <p:nvPr/>
        </p:nvSpPr>
        <p:spPr>
          <a:xfrm>
            <a:off x="4643967" y="2432447"/>
            <a:ext cx="299118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63EB"/>
                </a:solidFill>
                <a:latin typeface="Helvetica" pitchFamily="34" charset="0"/>
                <a:ea typeface="Helvetica" pitchFamily="34" charset="-122"/>
                <a:cs typeface="Helvetica" pitchFamily="34" charset="-120"/>
              </a:rPr>
              <a:t>Why it matters</a:t>
            </a:r>
            <a:endParaRPr lang="en-US" sz="1800" dirty="0"/>
          </a:p>
        </p:txBody>
      </p:sp>
      <p:sp>
        <p:nvSpPr>
          <p:cNvPr id="8" name="Text 6"/>
          <p:cNvSpPr/>
          <p:nvPr/>
        </p:nvSpPr>
        <p:spPr>
          <a:xfrm>
            <a:off x="4643967" y="2782956"/>
            <a:ext cx="299118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Unclear waits reduce satisfaction and repeat visits</a:t>
            </a:r>
            <a:endParaRPr lang="en-US" sz="1500" dirty="0"/>
          </a:p>
        </p:txBody>
      </p:sp>
      <p:sp>
        <p:nvSpPr>
          <p:cNvPr id="9" name="Shape 7"/>
          <p:cNvSpPr/>
          <p:nvPr/>
        </p:nvSpPr>
        <p:spPr>
          <a:xfrm>
            <a:off x="7961842" y="2177390"/>
            <a:ext cx="3414183" cy="1355923"/>
          </a:xfrm>
          <a:prstGeom prst="roundRect">
            <a:avLst>
              <a:gd name="adj" fmla="val 7259"/>
            </a:avLst>
          </a:prstGeom>
          <a:solidFill>
            <a:srgbClr val="FFFFFF"/>
          </a:solidFill>
          <a:ln w="6350">
            <a:solidFill>
              <a:srgbClr val="D9D6CC"/>
            </a:solidFill>
            <a:prstDash val="solid"/>
          </a:ln>
        </p:spPr>
      </p:sp>
      <p:sp>
        <p:nvSpPr>
          <p:cNvPr id="10" name="Text 8"/>
          <p:cNvSpPr/>
          <p:nvPr/>
        </p:nvSpPr>
        <p:spPr>
          <a:xfrm>
            <a:off x="8216900" y="2432447"/>
            <a:ext cx="2991189"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563EB"/>
                </a:solidFill>
                <a:latin typeface="Helvetica" pitchFamily="34" charset="0"/>
                <a:ea typeface="Helvetica" pitchFamily="34" charset="-122"/>
                <a:cs typeface="Helvetica" pitchFamily="34" charset="-120"/>
              </a:rPr>
              <a:t>Operations link</a:t>
            </a:r>
            <a:endParaRPr lang="en-US" sz="1800" dirty="0"/>
          </a:p>
        </p:txBody>
      </p:sp>
      <p:sp>
        <p:nvSpPr>
          <p:cNvPr id="11" name="Text 9"/>
          <p:cNvSpPr/>
          <p:nvPr/>
        </p:nvSpPr>
        <p:spPr>
          <a:xfrm>
            <a:off x="8216900" y="2782956"/>
            <a:ext cx="299118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13D"/>
                </a:solidFill>
                <a:latin typeface="Helvetica" pitchFamily="34" charset="0"/>
                <a:ea typeface="Helvetica" pitchFamily="34" charset="-122"/>
                <a:cs typeface="Helvetica" pitchFamily="34" charset="-120"/>
              </a:rPr>
              <a:t>Waiting becomes data owners use to plan staff and busy periods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Helvetica" pitchFamily="34" charset="0"/>
                <a:ea typeface="Helvetica" pitchFamily="34" charset="-122"/>
                <a:cs typeface="Helvetica" pitchFamily="34" charset="-120"/>
              </a:rPr>
              <a:t>How QueueEase works</a:t>
            </a:r>
            <a:endParaRPr lang="en-US" sz="3600" dirty="0"/>
          </a:p>
        </p:txBody>
      </p:sp>
      <p:sp>
        <p:nvSpPr>
          <p:cNvPr id="3" name="Shape 1"/>
          <p:cNvSpPr/>
          <p:nvPr/>
        </p:nvSpPr>
        <p:spPr>
          <a:xfrm>
            <a:off x="812800" y="1671309"/>
            <a:ext cx="2011627" cy="1959372"/>
          </a:xfrm>
          <a:prstGeom prst="roundRect">
            <a:avLst>
              <a:gd name="adj" fmla="val 5185"/>
            </a:avLst>
          </a:prstGeom>
          <a:solidFill>
            <a:srgbClr val="1F3159"/>
          </a:solidFill>
          <a:ln/>
        </p:spPr>
      </p:sp>
      <p:sp>
        <p:nvSpPr>
          <p:cNvPr id="4" name="Text 2"/>
          <p:cNvSpPr/>
          <p:nvPr/>
        </p:nvSpPr>
        <p:spPr>
          <a:xfrm>
            <a:off x="990600" y="1874509"/>
            <a:ext cx="1706827"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9E0B"/>
                </a:solidFill>
                <a:latin typeface="Helvetica" pitchFamily="34" charset="0"/>
                <a:ea typeface="Helvetica" pitchFamily="34" charset="-122"/>
                <a:cs typeface="Helvetica" pitchFamily="34" charset="-120"/>
              </a:rPr>
              <a:t>1</a:t>
            </a:r>
            <a:endParaRPr lang="en-US" sz="2800" dirty="0"/>
          </a:p>
        </p:txBody>
      </p:sp>
      <p:sp>
        <p:nvSpPr>
          <p:cNvPr id="5" name="Text 3"/>
          <p:cNvSpPr/>
          <p:nvPr/>
        </p:nvSpPr>
        <p:spPr>
          <a:xfrm>
            <a:off x="990600" y="2448520"/>
            <a:ext cx="170682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E"/>
                </a:solidFill>
                <a:latin typeface="Helvetica" pitchFamily="34" charset="0"/>
                <a:ea typeface="Helvetica" pitchFamily="34" charset="-122"/>
                <a:cs typeface="Helvetica" pitchFamily="34" charset="-120"/>
              </a:rPr>
              <a:t>Join</a:t>
            </a:r>
            <a:endParaRPr lang="en-US" sz="1700" dirty="0"/>
          </a:p>
        </p:txBody>
      </p:sp>
      <p:sp>
        <p:nvSpPr>
          <p:cNvPr id="6" name="Text 4"/>
          <p:cNvSpPr/>
          <p:nvPr/>
        </p:nvSpPr>
        <p:spPr>
          <a:xfrm>
            <a:off x="990600" y="2783749"/>
            <a:ext cx="1706827" cy="669131"/>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5DCEC"/>
                </a:solidFill>
                <a:latin typeface="Helvetica" pitchFamily="34" charset="0"/>
                <a:ea typeface="Helvetica" pitchFamily="34" charset="-122"/>
                <a:cs typeface="Helvetica" pitchFamily="34" charset="-120"/>
              </a:rPr>
              <a:t>Enter a name, pick a service, join now or prebook</a:t>
            </a:r>
            <a:endParaRPr lang="en-US" sz="1300" dirty="0"/>
          </a:p>
        </p:txBody>
      </p:sp>
      <p:sp>
        <p:nvSpPr>
          <p:cNvPr id="7" name="Shape 5"/>
          <p:cNvSpPr/>
          <p:nvPr/>
        </p:nvSpPr>
        <p:spPr>
          <a:xfrm>
            <a:off x="2951427" y="1671309"/>
            <a:ext cx="2011693" cy="1959372"/>
          </a:xfrm>
          <a:prstGeom prst="roundRect">
            <a:avLst>
              <a:gd name="adj" fmla="val 5185"/>
            </a:avLst>
          </a:prstGeom>
          <a:solidFill>
            <a:srgbClr val="1F3159"/>
          </a:solidFill>
          <a:ln/>
        </p:spPr>
      </p:sp>
      <p:sp>
        <p:nvSpPr>
          <p:cNvPr id="8" name="Text 6"/>
          <p:cNvSpPr/>
          <p:nvPr/>
        </p:nvSpPr>
        <p:spPr>
          <a:xfrm>
            <a:off x="3129227" y="1874509"/>
            <a:ext cx="1706893"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9E0B"/>
                </a:solidFill>
                <a:latin typeface="Helvetica" pitchFamily="34" charset="0"/>
                <a:ea typeface="Helvetica" pitchFamily="34" charset="-122"/>
                <a:cs typeface="Helvetica" pitchFamily="34" charset="-120"/>
              </a:rPr>
              <a:t>2</a:t>
            </a:r>
            <a:endParaRPr lang="en-US" sz="2800" dirty="0"/>
          </a:p>
        </p:txBody>
      </p:sp>
      <p:sp>
        <p:nvSpPr>
          <p:cNvPr id="9" name="Text 7"/>
          <p:cNvSpPr/>
          <p:nvPr/>
        </p:nvSpPr>
        <p:spPr>
          <a:xfrm>
            <a:off x="3129227" y="2448520"/>
            <a:ext cx="170689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E"/>
                </a:solidFill>
                <a:latin typeface="Helvetica" pitchFamily="34" charset="0"/>
                <a:ea typeface="Helvetica" pitchFamily="34" charset="-122"/>
                <a:cs typeface="Helvetica" pitchFamily="34" charset="-120"/>
              </a:rPr>
              <a:t>Ticket</a:t>
            </a:r>
            <a:endParaRPr lang="en-US" sz="1700" dirty="0"/>
          </a:p>
        </p:txBody>
      </p:sp>
      <p:sp>
        <p:nvSpPr>
          <p:cNvPr id="10" name="Text 8"/>
          <p:cNvSpPr/>
          <p:nvPr/>
        </p:nvSpPr>
        <p:spPr>
          <a:xfrm>
            <a:off x="3129227" y="2783749"/>
            <a:ext cx="1706893"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5DCEC"/>
                </a:solidFill>
                <a:latin typeface="Helvetica" pitchFamily="34" charset="0"/>
                <a:ea typeface="Helvetica" pitchFamily="34" charset="-122"/>
                <a:cs typeface="Helvetica" pitchFamily="34" charset="-120"/>
              </a:rPr>
              <a:t>Get a queue number and an estimated wait</a:t>
            </a:r>
            <a:endParaRPr lang="en-US" sz="1300" dirty="0"/>
          </a:p>
        </p:txBody>
      </p:sp>
      <p:sp>
        <p:nvSpPr>
          <p:cNvPr id="11" name="Shape 9"/>
          <p:cNvSpPr/>
          <p:nvPr/>
        </p:nvSpPr>
        <p:spPr>
          <a:xfrm>
            <a:off x="5090120" y="1671309"/>
            <a:ext cx="2011693" cy="1959372"/>
          </a:xfrm>
          <a:prstGeom prst="roundRect">
            <a:avLst>
              <a:gd name="adj" fmla="val 5185"/>
            </a:avLst>
          </a:prstGeom>
          <a:solidFill>
            <a:srgbClr val="1F3159"/>
          </a:solidFill>
          <a:ln/>
        </p:spPr>
      </p:sp>
      <p:sp>
        <p:nvSpPr>
          <p:cNvPr id="12" name="Text 10"/>
          <p:cNvSpPr/>
          <p:nvPr/>
        </p:nvSpPr>
        <p:spPr>
          <a:xfrm>
            <a:off x="5267920" y="1874509"/>
            <a:ext cx="1706893"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9E0B"/>
                </a:solidFill>
                <a:latin typeface="Helvetica" pitchFamily="34" charset="0"/>
                <a:ea typeface="Helvetica" pitchFamily="34" charset="-122"/>
                <a:cs typeface="Helvetica" pitchFamily="34" charset="-120"/>
              </a:rPr>
              <a:t>3</a:t>
            </a:r>
            <a:endParaRPr lang="en-US" sz="2800" dirty="0"/>
          </a:p>
        </p:txBody>
      </p:sp>
      <p:sp>
        <p:nvSpPr>
          <p:cNvPr id="13" name="Text 11"/>
          <p:cNvSpPr/>
          <p:nvPr/>
        </p:nvSpPr>
        <p:spPr>
          <a:xfrm>
            <a:off x="5267920" y="2448520"/>
            <a:ext cx="170689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E"/>
                </a:solidFill>
                <a:latin typeface="Helvetica" pitchFamily="34" charset="0"/>
                <a:ea typeface="Helvetica" pitchFamily="34" charset="-122"/>
                <a:cs typeface="Helvetica" pitchFamily="34" charset="-120"/>
              </a:rPr>
              <a:t>Track</a:t>
            </a:r>
            <a:endParaRPr lang="en-US" sz="1700" dirty="0"/>
          </a:p>
        </p:txBody>
      </p:sp>
      <p:sp>
        <p:nvSpPr>
          <p:cNvPr id="14" name="Text 12"/>
          <p:cNvSpPr/>
          <p:nvPr/>
        </p:nvSpPr>
        <p:spPr>
          <a:xfrm>
            <a:off x="5267920" y="2783749"/>
            <a:ext cx="1706893"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5DCEC"/>
                </a:solidFill>
                <a:latin typeface="Helvetica" pitchFamily="34" charset="0"/>
                <a:ea typeface="Helvetica" pitchFamily="34" charset="-122"/>
                <a:cs typeface="Helvetica" pitchFamily="34" charset="-120"/>
              </a:rPr>
              <a:t>See position and progress update live</a:t>
            </a:r>
            <a:endParaRPr lang="en-US" sz="1300" dirty="0"/>
          </a:p>
        </p:txBody>
      </p:sp>
      <p:sp>
        <p:nvSpPr>
          <p:cNvPr id="15" name="Shape 13"/>
          <p:cNvSpPr/>
          <p:nvPr/>
        </p:nvSpPr>
        <p:spPr>
          <a:xfrm>
            <a:off x="7228814" y="1671309"/>
            <a:ext cx="2011693" cy="1959372"/>
          </a:xfrm>
          <a:prstGeom prst="roundRect">
            <a:avLst>
              <a:gd name="adj" fmla="val 5185"/>
            </a:avLst>
          </a:prstGeom>
          <a:solidFill>
            <a:srgbClr val="1F3159"/>
          </a:solidFill>
          <a:ln/>
        </p:spPr>
      </p:sp>
      <p:sp>
        <p:nvSpPr>
          <p:cNvPr id="16" name="Text 14"/>
          <p:cNvSpPr/>
          <p:nvPr/>
        </p:nvSpPr>
        <p:spPr>
          <a:xfrm>
            <a:off x="7406614" y="1874509"/>
            <a:ext cx="1706893"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9E0B"/>
                </a:solidFill>
                <a:latin typeface="Helvetica" pitchFamily="34" charset="0"/>
                <a:ea typeface="Helvetica" pitchFamily="34" charset="-122"/>
                <a:cs typeface="Helvetica" pitchFamily="34" charset="-120"/>
              </a:rPr>
              <a:t>4</a:t>
            </a:r>
            <a:endParaRPr lang="en-US" sz="2800" dirty="0"/>
          </a:p>
        </p:txBody>
      </p:sp>
      <p:sp>
        <p:nvSpPr>
          <p:cNvPr id="17" name="Text 15"/>
          <p:cNvSpPr/>
          <p:nvPr/>
        </p:nvSpPr>
        <p:spPr>
          <a:xfrm>
            <a:off x="7406614" y="2448520"/>
            <a:ext cx="170689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E"/>
                </a:solidFill>
                <a:latin typeface="Helvetica" pitchFamily="34" charset="0"/>
                <a:ea typeface="Helvetica" pitchFamily="34" charset="-122"/>
                <a:cs typeface="Helvetica" pitchFamily="34" charset="-120"/>
              </a:rPr>
              <a:t>Serve</a:t>
            </a:r>
            <a:endParaRPr lang="en-US" sz="1700" dirty="0"/>
          </a:p>
        </p:txBody>
      </p:sp>
      <p:sp>
        <p:nvSpPr>
          <p:cNvPr id="18" name="Text 16"/>
          <p:cNvSpPr/>
          <p:nvPr/>
        </p:nvSpPr>
        <p:spPr>
          <a:xfrm>
            <a:off x="7406614" y="2783749"/>
            <a:ext cx="1706893" cy="454554"/>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5DCEC"/>
                </a:solidFill>
                <a:latin typeface="Helvetica" pitchFamily="34" charset="0"/>
                <a:ea typeface="Helvetica" pitchFamily="34" charset="-122"/>
                <a:cs typeface="Helvetica" pitchFamily="34" charset="-120"/>
              </a:rPr>
              <a:t>Staff press Serve next or remove no-shows</a:t>
            </a:r>
            <a:endParaRPr lang="en-US" sz="1300" dirty="0"/>
          </a:p>
        </p:txBody>
      </p:sp>
      <p:sp>
        <p:nvSpPr>
          <p:cNvPr id="19" name="Shape 17"/>
          <p:cNvSpPr/>
          <p:nvPr/>
        </p:nvSpPr>
        <p:spPr>
          <a:xfrm>
            <a:off x="9367507" y="1671309"/>
            <a:ext cx="2011693" cy="1959372"/>
          </a:xfrm>
          <a:prstGeom prst="roundRect">
            <a:avLst>
              <a:gd name="adj" fmla="val 5185"/>
            </a:avLst>
          </a:prstGeom>
          <a:solidFill>
            <a:srgbClr val="1F3159"/>
          </a:solidFill>
          <a:ln/>
        </p:spPr>
      </p:sp>
      <p:sp>
        <p:nvSpPr>
          <p:cNvPr id="20" name="Text 18"/>
          <p:cNvSpPr/>
          <p:nvPr/>
        </p:nvSpPr>
        <p:spPr>
          <a:xfrm>
            <a:off x="9545307" y="1874509"/>
            <a:ext cx="1706893"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59E0B"/>
                </a:solidFill>
                <a:latin typeface="Helvetica" pitchFamily="34" charset="0"/>
                <a:ea typeface="Helvetica" pitchFamily="34" charset="-122"/>
                <a:cs typeface="Helvetica" pitchFamily="34" charset="-120"/>
              </a:rPr>
              <a:t>5</a:t>
            </a:r>
            <a:endParaRPr lang="en-US" sz="2800" dirty="0"/>
          </a:p>
        </p:txBody>
      </p:sp>
      <p:sp>
        <p:nvSpPr>
          <p:cNvPr id="21" name="Text 19"/>
          <p:cNvSpPr/>
          <p:nvPr/>
        </p:nvSpPr>
        <p:spPr>
          <a:xfrm>
            <a:off x="9545307" y="2448520"/>
            <a:ext cx="170689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4EE"/>
                </a:solidFill>
                <a:latin typeface="Helvetica" pitchFamily="34" charset="0"/>
                <a:ea typeface="Helvetica" pitchFamily="34" charset="-122"/>
                <a:cs typeface="Helvetica" pitchFamily="34" charset="-120"/>
              </a:rPr>
              <a:t>Analyse</a:t>
            </a:r>
            <a:endParaRPr lang="en-US" sz="1700" dirty="0"/>
          </a:p>
        </p:txBody>
      </p:sp>
      <p:sp>
        <p:nvSpPr>
          <p:cNvPr id="22" name="Text 20"/>
          <p:cNvSpPr/>
          <p:nvPr/>
        </p:nvSpPr>
        <p:spPr>
          <a:xfrm>
            <a:off x="9545307" y="2783749"/>
            <a:ext cx="1706893" cy="669131"/>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5DCEC"/>
                </a:solidFill>
                <a:latin typeface="Helvetica" pitchFamily="34" charset="0"/>
                <a:ea typeface="Helvetica" pitchFamily="34" charset="-122"/>
                <a:cs typeface="Helvetica" pitchFamily="34" charset="-120"/>
              </a:rPr>
              <a:t>Waits and services are recorded as statistics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Built with HTML, Tailwind CSS and JavaScript</a:t>
            </a:r>
            <a:endParaRPr lang="en-US" sz="3600" dirty="0"/>
          </a:p>
        </p:txBody>
      </p:sp>
      <p:sp>
        <p:nvSpPr>
          <p:cNvPr id="3" name="Shape 1"/>
          <p:cNvSpPr/>
          <p:nvPr/>
        </p:nvSpPr>
        <p:spPr>
          <a:xfrm>
            <a:off x="815975" y="1674484"/>
            <a:ext cx="3414183" cy="2094971"/>
          </a:xfrm>
          <a:prstGeom prst="roundRect">
            <a:avLst>
              <a:gd name="adj" fmla="val 4698"/>
            </a:avLst>
          </a:prstGeom>
          <a:solidFill>
            <a:srgbClr val="FFFFFF"/>
          </a:solidFill>
          <a:ln w="6350">
            <a:solidFill>
              <a:srgbClr val="D9D6CC"/>
            </a:solidFill>
            <a:prstDash val="solid"/>
          </a:ln>
        </p:spPr>
      </p:sp>
      <p:sp>
        <p:nvSpPr>
          <p:cNvPr id="4" name="Text 2"/>
          <p:cNvSpPr/>
          <p:nvPr/>
        </p:nvSpPr>
        <p:spPr>
          <a:xfrm>
            <a:off x="1071033" y="1904141"/>
            <a:ext cx="2991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Helvetica" pitchFamily="34" charset="0"/>
                <a:ea typeface="Helvetica" pitchFamily="34" charset="-122"/>
                <a:cs typeface="Helvetica" pitchFamily="34" charset="-120"/>
              </a:rPr>
              <a:t>HTML</a:t>
            </a:r>
            <a:endParaRPr lang="en-US" sz="2000" dirty="0"/>
          </a:p>
        </p:txBody>
      </p:sp>
      <p:sp>
        <p:nvSpPr>
          <p:cNvPr id="5" name="Text 3"/>
          <p:cNvSpPr/>
          <p:nvPr/>
        </p:nvSpPr>
        <p:spPr>
          <a:xfrm>
            <a:off x="1071033" y="2310541"/>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Semantic page structure</a:t>
            </a:r>
            <a:endParaRPr lang="en-US" sz="1400" dirty="0"/>
          </a:p>
        </p:txBody>
      </p:sp>
      <p:sp>
        <p:nvSpPr>
          <p:cNvPr id="6" name="Text 4"/>
          <p:cNvSpPr/>
          <p:nvPr/>
        </p:nvSpPr>
        <p:spPr>
          <a:xfrm>
            <a:off x="1071033" y="2643256"/>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Labeled forms and inputs</a:t>
            </a:r>
            <a:endParaRPr lang="en-US" sz="1400" dirty="0"/>
          </a:p>
        </p:txBody>
      </p:sp>
      <p:sp>
        <p:nvSpPr>
          <p:cNvPr id="7" name="Text 5"/>
          <p:cNvSpPr/>
          <p:nvPr/>
        </p:nvSpPr>
        <p:spPr>
          <a:xfrm>
            <a:off x="1071033" y="2975967"/>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Service dropdown</a:t>
            </a:r>
            <a:endParaRPr lang="en-US" sz="1400" dirty="0"/>
          </a:p>
        </p:txBody>
      </p:sp>
      <p:sp>
        <p:nvSpPr>
          <p:cNvPr id="8" name="Text 6"/>
          <p:cNvSpPr/>
          <p:nvPr/>
        </p:nvSpPr>
        <p:spPr>
          <a:xfrm>
            <a:off x="1071033" y="3308682"/>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Unique ids for scripting</a:t>
            </a:r>
            <a:endParaRPr lang="en-US" sz="1400" dirty="0"/>
          </a:p>
        </p:txBody>
      </p:sp>
      <p:sp>
        <p:nvSpPr>
          <p:cNvPr id="9" name="Shape 7"/>
          <p:cNvSpPr/>
          <p:nvPr/>
        </p:nvSpPr>
        <p:spPr>
          <a:xfrm>
            <a:off x="4388908" y="1674484"/>
            <a:ext cx="3414183" cy="2094971"/>
          </a:xfrm>
          <a:prstGeom prst="roundRect">
            <a:avLst>
              <a:gd name="adj" fmla="val 4698"/>
            </a:avLst>
          </a:prstGeom>
          <a:solidFill>
            <a:srgbClr val="FFFFFF"/>
          </a:solidFill>
          <a:ln w="6350">
            <a:solidFill>
              <a:srgbClr val="D9D6CC"/>
            </a:solidFill>
            <a:prstDash val="solid"/>
          </a:ln>
        </p:spPr>
      </p:sp>
      <p:sp>
        <p:nvSpPr>
          <p:cNvPr id="10" name="Text 8"/>
          <p:cNvSpPr/>
          <p:nvPr/>
        </p:nvSpPr>
        <p:spPr>
          <a:xfrm>
            <a:off x="4643967" y="1904141"/>
            <a:ext cx="2991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Helvetica" pitchFamily="34" charset="0"/>
                <a:ea typeface="Helvetica" pitchFamily="34" charset="-122"/>
                <a:cs typeface="Helvetica" pitchFamily="34" charset="-120"/>
              </a:rPr>
              <a:t>Tailwind CSS</a:t>
            </a:r>
            <a:endParaRPr lang="en-US" sz="2000" dirty="0"/>
          </a:p>
        </p:txBody>
      </p:sp>
      <p:sp>
        <p:nvSpPr>
          <p:cNvPr id="11" name="Text 9"/>
          <p:cNvSpPr/>
          <p:nvPr/>
        </p:nvSpPr>
        <p:spPr>
          <a:xfrm>
            <a:off x="4643967" y="2310541"/>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Responsive grid layout</a:t>
            </a:r>
            <a:endParaRPr lang="en-US" sz="1400" dirty="0"/>
          </a:p>
        </p:txBody>
      </p:sp>
      <p:sp>
        <p:nvSpPr>
          <p:cNvPr id="12" name="Text 10"/>
          <p:cNvSpPr/>
          <p:nvPr/>
        </p:nvSpPr>
        <p:spPr>
          <a:xfrm>
            <a:off x="4643967" y="2643256"/>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Cards, spacing and colors</a:t>
            </a:r>
            <a:endParaRPr lang="en-US" sz="1400" dirty="0"/>
          </a:p>
        </p:txBody>
      </p:sp>
      <p:sp>
        <p:nvSpPr>
          <p:cNvPr id="13" name="Text 11"/>
          <p:cNvSpPr/>
          <p:nvPr/>
        </p:nvSpPr>
        <p:spPr>
          <a:xfrm>
            <a:off x="4643967" y="2975967"/>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Hover and focus states</a:t>
            </a:r>
            <a:endParaRPr lang="en-US" sz="1400" dirty="0"/>
          </a:p>
        </p:txBody>
      </p:sp>
      <p:sp>
        <p:nvSpPr>
          <p:cNvPr id="14" name="Text 12"/>
          <p:cNvSpPr/>
          <p:nvPr/>
        </p:nvSpPr>
        <p:spPr>
          <a:xfrm>
            <a:off x="4643967" y="3308682"/>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Mobile-friendly design</a:t>
            </a:r>
            <a:endParaRPr lang="en-US" sz="1400" dirty="0"/>
          </a:p>
        </p:txBody>
      </p:sp>
      <p:sp>
        <p:nvSpPr>
          <p:cNvPr id="15" name="Shape 13"/>
          <p:cNvSpPr/>
          <p:nvPr/>
        </p:nvSpPr>
        <p:spPr>
          <a:xfrm>
            <a:off x="7961842" y="1674484"/>
            <a:ext cx="3414183" cy="2094971"/>
          </a:xfrm>
          <a:prstGeom prst="roundRect">
            <a:avLst>
              <a:gd name="adj" fmla="val 4698"/>
            </a:avLst>
          </a:prstGeom>
          <a:solidFill>
            <a:srgbClr val="FFFFFF"/>
          </a:solidFill>
          <a:ln w="6350">
            <a:solidFill>
              <a:srgbClr val="D9D6CC"/>
            </a:solidFill>
            <a:prstDash val="solid"/>
          </a:ln>
        </p:spPr>
      </p:sp>
      <p:sp>
        <p:nvSpPr>
          <p:cNvPr id="16" name="Text 14"/>
          <p:cNvSpPr/>
          <p:nvPr/>
        </p:nvSpPr>
        <p:spPr>
          <a:xfrm>
            <a:off x="8216900" y="1904141"/>
            <a:ext cx="2991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Helvetica" pitchFamily="34" charset="0"/>
                <a:ea typeface="Helvetica" pitchFamily="34" charset="-122"/>
                <a:cs typeface="Helvetica" pitchFamily="34" charset="-120"/>
              </a:rPr>
              <a:t>JavaScript</a:t>
            </a:r>
            <a:endParaRPr lang="en-US" sz="2000" dirty="0"/>
          </a:p>
        </p:txBody>
      </p:sp>
      <p:sp>
        <p:nvSpPr>
          <p:cNvPr id="17" name="Text 15"/>
          <p:cNvSpPr/>
          <p:nvPr/>
        </p:nvSpPr>
        <p:spPr>
          <a:xfrm>
            <a:off x="8216900" y="2310541"/>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DOM manipulation</a:t>
            </a:r>
            <a:endParaRPr lang="en-US" sz="1400" dirty="0"/>
          </a:p>
        </p:txBody>
      </p:sp>
      <p:sp>
        <p:nvSpPr>
          <p:cNvPr id="18" name="Text 16"/>
          <p:cNvSpPr/>
          <p:nvPr/>
        </p:nvSpPr>
        <p:spPr>
          <a:xfrm>
            <a:off x="8216900" y="2643256"/>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Queue array and ticket numbers</a:t>
            </a:r>
            <a:endParaRPr lang="en-US" sz="1400" dirty="0"/>
          </a:p>
        </p:txBody>
      </p:sp>
      <p:sp>
        <p:nvSpPr>
          <p:cNvPr id="19" name="Text 17"/>
          <p:cNvSpPr/>
          <p:nvPr/>
        </p:nvSpPr>
        <p:spPr>
          <a:xfrm>
            <a:off x="8216900" y="2975967"/>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Timestamps and wait estimates</a:t>
            </a:r>
            <a:endParaRPr lang="en-US" sz="1400" dirty="0"/>
          </a:p>
        </p:txBody>
      </p:sp>
      <p:sp>
        <p:nvSpPr>
          <p:cNvPr id="20" name="Text 18"/>
          <p:cNvSpPr/>
          <p:nvPr/>
        </p:nvSpPr>
        <p:spPr>
          <a:xfrm>
            <a:off x="8216900" y="3308682"/>
            <a:ext cx="299118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Helvetica" pitchFamily="34" charset="0"/>
                <a:ea typeface="Helvetica" pitchFamily="34" charset="-122"/>
                <a:cs typeface="Helvetica" pitchFamily="34" charset="-120"/>
              </a:rPr>
              <a:t>Saving with localStorage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Helvetica" pitchFamily="34" charset="0"/>
                <a:ea typeface="Helvetica" pitchFamily="34" charset="-122"/>
                <a:cs typeface="Helvetica" pitchFamily="34" charset="-120"/>
              </a:rPr>
              <a:t>Summary</a:t>
            </a:r>
            <a:endParaRPr lang="en-US" sz="3600" dirty="0"/>
          </a:p>
        </p:txBody>
      </p:sp>
      <p:sp>
        <p:nvSpPr>
          <p:cNvPr id="3" name="Text 1"/>
          <p:cNvSpPr/>
          <p:nvPr/>
        </p:nvSpPr>
        <p:spPr>
          <a:xfrm>
            <a:off x="815975" y="1623684"/>
            <a:ext cx="10560050" cy="638373"/>
          </a:xfrm>
          <a:prstGeom prst="roundRect">
            <a:avLst>
              <a:gd name="adj" fmla="val 15418"/>
            </a:avLst>
          </a:prstGeom>
          <a:solidFill>
            <a:srgbClr val="FFFFFF"/>
          </a:solidFill>
          <a:ln w="6350">
            <a:solidFill>
              <a:srgbClr val="D9D6CC"/>
            </a:solidFill>
            <a:prstDash val="solid"/>
          </a:ln>
        </p:spPr>
        <p:txBody>
          <a:bodyPr wrap="square" lIns="226231" tIns="150031" rIns="0" bIns="124631" rtlCol="0" anchor="t">
            <a:normAutofit/>
          </a:bodyPr>
          <a:lstStyle/>
          <a:p>
            <a:pPr algn="l" indent="0" marL="0">
              <a:lnSpc>
                <a:spcPts val="2210"/>
              </a:lnSpc>
              <a:buNone/>
            </a:pPr>
            <a:r>
              <a:rPr lang="en-US" sz="1700" dirty="0">
                <a:solidFill>
                  <a:srgbClr val="14213D"/>
                </a:solidFill>
                <a:latin typeface="Helvetica" pitchFamily="34" charset="0"/>
                <a:ea typeface="Helvetica" pitchFamily="34" charset="-122"/>
                <a:cs typeface="Helvetica" pitchFamily="34" charset="-120"/>
              </a:rPr>
              <a:t>QueueEase gives small businesses a clear, fair digital waiting line.</a:t>
            </a:r>
            <a:endParaRPr lang="en-US" sz="1700" dirty="0"/>
          </a:p>
        </p:txBody>
      </p:sp>
      <p:sp>
        <p:nvSpPr>
          <p:cNvPr id="4" name="Text 2"/>
          <p:cNvSpPr/>
          <p:nvPr/>
        </p:nvSpPr>
        <p:spPr>
          <a:xfrm>
            <a:off x="815975" y="2420807"/>
            <a:ext cx="10560050" cy="638373"/>
          </a:xfrm>
          <a:prstGeom prst="roundRect">
            <a:avLst>
              <a:gd name="adj" fmla="val 15418"/>
            </a:avLst>
          </a:prstGeom>
          <a:solidFill>
            <a:srgbClr val="FFFFFF"/>
          </a:solidFill>
          <a:ln w="6350">
            <a:solidFill>
              <a:srgbClr val="D9D6CC"/>
            </a:solidFill>
            <a:prstDash val="solid"/>
          </a:ln>
        </p:spPr>
        <p:txBody>
          <a:bodyPr wrap="square" lIns="226231" tIns="150031" rIns="0" bIns="124631" rtlCol="0" anchor="t">
            <a:normAutofit/>
          </a:bodyPr>
          <a:lstStyle/>
          <a:p>
            <a:pPr algn="l" indent="0" marL="0">
              <a:lnSpc>
                <a:spcPts val="2210"/>
              </a:lnSpc>
              <a:buNone/>
            </a:pPr>
            <a:r>
              <a:rPr lang="en-US" sz="1700" dirty="0">
                <a:solidFill>
                  <a:srgbClr val="14213D"/>
                </a:solidFill>
                <a:latin typeface="Helvetica" pitchFamily="34" charset="0"/>
                <a:ea typeface="Helvetica" pitchFamily="34" charset="-122"/>
                <a:cs typeface="Helvetica" pitchFamily="34" charset="-120"/>
              </a:rPr>
              <a:t>Customers join, prebook and track progress. Staff serve and manage in one click.</a:t>
            </a:r>
            <a:endParaRPr lang="en-US" sz="1700" dirty="0"/>
          </a:p>
        </p:txBody>
      </p:sp>
      <p:sp>
        <p:nvSpPr>
          <p:cNvPr id="5" name="Text 3"/>
          <p:cNvSpPr/>
          <p:nvPr/>
        </p:nvSpPr>
        <p:spPr>
          <a:xfrm>
            <a:off x="815975" y="3217931"/>
            <a:ext cx="10560050" cy="638373"/>
          </a:xfrm>
          <a:prstGeom prst="roundRect">
            <a:avLst>
              <a:gd name="adj" fmla="val 15418"/>
            </a:avLst>
          </a:prstGeom>
          <a:solidFill>
            <a:srgbClr val="FFFFFF"/>
          </a:solidFill>
          <a:ln w="6350">
            <a:solidFill>
              <a:srgbClr val="D9D6CC"/>
            </a:solidFill>
            <a:prstDash val="solid"/>
          </a:ln>
        </p:spPr>
        <p:txBody>
          <a:bodyPr wrap="square" lIns="226231" tIns="150031" rIns="0" bIns="124631" rtlCol="0" anchor="t">
            <a:normAutofit/>
          </a:bodyPr>
          <a:lstStyle/>
          <a:p>
            <a:pPr algn="l" indent="0" marL="0">
              <a:lnSpc>
                <a:spcPts val="2210"/>
              </a:lnSpc>
              <a:buNone/>
            </a:pPr>
            <a:r>
              <a:rPr lang="en-US" sz="1700" dirty="0">
                <a:solidFill>
                  <a:srgbClr val="14213D"/>
                </a:solidFill>
                <a:latin typeface="Helvetica" pitchFamily="34" charset="0"/>
                <a:ea typeface="Helvetica" pitchFamily="34" charset="-122"/>
                <a:cs typeface="Helvetica" pitchFamily="34" charset="-120"/>
              </a:rPr>
              <a:t>Timestamps and service durations turn waiting into useful business data.</a:t>
            </a:r>
            <a:endParaRPr lang="en-US" sz="1700" dirty="0"/>
          </a:p>
        </p:txBody>
      </p:sp>
      <p:sp>
        <p:nvSpPr>
          <p:cNvPr id="6" name="Text 4"/>
          <p:cNvSpPr/>
          <p:nvPr/>
        </p:nvSpPr>
        <p:spPr>
          <a:xfrm>
            <a:off x="815975" y="4015054"/>
            <a:ext cx="10560050" cy="638373"/>
          </a:xfrm>
          <a:prstGeom prst="roundRect">
            <a:avLst>
              <a:gd name="adj" fmla="val 15418"/>
            </a:avLst>
          </a:prstGeom>
          <a:solidFill>
            <a:srgbClr val="FFFFFF"/>
          </a:solidFill>
          <a:ln w="6350">
            <a:solidFill>
              <a:srgbClr val="D9D6CC"/>
            </a:solidFill>
            <a:prstDash val="solid"/>
          </a:ln>
        </p:spPr>
        <p:txBody>
          <a:bodyPr wrap="square" lIns="226231" tIns="150031" rIns="0" bIns="124631" rtlCol="0" anchor="t">
            <a:normAutofit/>
          </a:bodyPr>
          <a:lstStyle/>
          <a:p>
            <a:pPr algn="l" indent="0" marL="0">
              <a:lnSpc>
                <a:spcPts val="2210"/>
              </a:lnSpc>
              <a:buNone/>
            </a:pPr>
            <a:r>
              <a:rPr lang="en-US" sz="1700" dirty="0">
                <a:solidFill>
                  <a:srgbClr val="14213D"/>
                </a:solidFill>
                <a:latin typeface="Helvetica" pitchFamily="34" charset="0"/>
                <a:ea typeface="Helvetica" pitchFamily="34" charset="-122"/>
                <a:cs typeface="Helvetica" pitchFamily="34" charset="-120"/>
              </a:rPr>
              <a:t>Next steps: SMS alerts and a real database.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2265697"/>
            <a:ext cx="10883392" cy="1145514"/>
          </a:xfrm>
          <a:prstGeom prst="rect">
            <a:avLst/>
          </a:prstGeom>
          <a:noFill/>
          <a:ln/>
        </p:spPr>
        <p:txBody>
          <a:bodyPr wrap="square" lIns="0" tIns="0" rIns="0" bIns="0" rtlCol="0" anchor="t">
            <a:normAutofit/>
          </a:bodyPr>
          <a:lstStyle/>
          <a:p>
            <a:pPr algn="l" indent="0" marL="0">
              <a:lnSpc>
                <a:spcPts val="8820"/>
              </a:lnSpc>
              <a:buNone/>
            </a:pPr>
            <a:r>
              <a:rPr lang="en-US" sz="8400" b="1" i="0" dirty="0">
                <a:solidFill>
                  <a:srgbClr val="F6F4EE"/>
                </a:solidFill>
                <a:latin typeface="Helvetica" pitchFamily="34" charset="0"/>
                <a:ea typeface="Helvetica" pitchFamily="34" charset="-122"/>
                <a:cs typeface="Helvetica" pitchFamily="34" charset="-120"/>
              </a:rPr>
              <a:t>Thank you</a:t>
            </a:r>
            <a:endParaRPr lang="en-US" sz="8400" dirty="0"/>
          </a:p>
        </p:txBody>
      </p:sp>
      <p:sp>
        <p:nvSpPr>
          <p:cNvPr id="3" name="Text 1"/>
          <p:cNvSpPr/>
          <p:nvPr/>
        </p:nvSpPr>
        <p:spPr>
          <a:xfrm>
            <a:off x="812800" y="3639809"/>
            <a:ext cx="10883392" cy="421614"/>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59E0B"/>
                </a:solidFill>
                <a:latin typeface="Helvetica" pitchFamily="34" charset="0"/>
                <a:ea typeface="Helvetica" pitchFamily="34" charset="-122"/>
                <a:cs typeface="Helvetica" pitchFamily="34" charset="-120"/>
              </a:rPr>
              <a:t>Miriam Adjaye</a:t>
            </a:r>
            <a:endParaRPr lang="en-US" sz="2400" dirty="0"/>
          </a:p>
        </p:txBody>
      </p:sp>
      <p:sp>
        <p:nvSpPr>
          <p:cNvPr id="4" name="Text 2"/>
          <p:cNvSpPr/>
          <p:nvPr/>
        </p:nvSpPr>
        <p:spPr>
          <a:xfrm>
            <a:off x="812800" y="42900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1E3"/>
                </a:solidFill>
                <a:latin typeface="Helvetica" pitchFamily="34" charset="0"/>
                <a:ea typeface="Helvetica" pitchFamily="34" charset="-122"/>
                <a:cs typeface="Helvetica" pitchFamily="34" charset="-120"/>
              </a:rPr>
              <a:t>QueueEase: digital queue management for small businesses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563EB"/>
        </a:solidFill>
      </p:bgPr>
    </p:bg>
    <p:spTree>
      <p:nvGrpSpPr>
        <p:cNvPr id="1" name=""/>
        <p:cNvGrpSpPr/>
        <p:nvPr/>
      </p:nvGrpSpPr>
      <p:grpSpPr>
        <a:xfrm>
          <a:off x="0" y="0"/>
          <a:ext cx="0" cy="0"/>
          <a:chOff x="0" y="0"/>
          <a:chExt cx="0" cy="0"/>
        </a:xfrm>
      </p:grpSpPr>
      <p:sp>
        <p:nvSpPr>
          <p:cNvPr id="2" name="Text 0"/>
          <p:cNvSpPr/>
          <p:nvPr>
            <p:ph type="title"/>
          </p:nvPr>
        </p:nvSpPr>
        <p:spPr>
          <a:xfrm>
            <a:off x="812800" y="2560309"/>
            <a:ext cx="10883392" cy="1145514"/>
          </a:xfrm>
          <a:prstGeom prst="rect">
            <a:avLst/>
          </a:prstGeom>
          <a:noFill/>
          <a:ln/>
        </p:spPr>
        <p:txBody>
          <a:bodyPr wrap="square" lIns="0" tIns="0" rIns="0" bIns="0" rtlCol="0" anchor="t">
            <a:normAutofit/>
          </a:bodyPr>
          <a:lstStyle/>
          <a:p>
            <a:pPr algn="l" indent="0" marL="0">
              <a:lnSpc>
                <a:spcPts val="8820"/>
              </a:lnSpc>
              <a:buNone/>
            </a:pPr>
            <a:r>
              <a:rPr lang="en-US" sz="8400" b="1" i="0" dirty="0">
                <a:solidFill>
                  <a:srgbClr val="FFFFFF"/>
                </a:solidFill>
                <a:latin typeface="Helvetica" pitchFamily="34" charset="0"/>
                <a:ea typeface="Helvetica" pitchFamily="34" charset="-122"/>
                <a:cs typeface="Helvetica" pitchFamily="34" charset="-120"/>
              </a:rPr>
              <a:t>Questions?</a:t>
            </a:r>
            <a:endParaRPr lang="en-US" sz="8400" dirty="0"/>
          </a:p>
        </p:txBody>
      </p:sp>
      <p:sp>
        <p:nvSpPr>
          <p:cNvPr id="3" name="Text 1"/>
          <p:cNvSpPr/>
          <p:nvPr/>
        </p:nvSpPr>
        <p:spPr>
          <a:xfrm>
            <a:off x="812800" y="3934420"/>
            <a:ext cx="1088339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FFFFF"/>
                </a:solidFill>
                <a:latin typeface="Helvetica" pitchFamily="34" charset="0"/>
                <a:ea typeface="Helvetica" pitchFamily="34" charset="-122"/>
                <a:cs typeface="Helvetica" pitchFamily="34" charset="-120"/>
              </a:rPr>
              <a:t>Happy to demo any feature again.</a:t>
            </a:r>
            <a:endParaRPr lang="en-US" sz="2200" dirty="0"/>
          </a:p>
        </p:txBody>
      </p:sp>
    </p:spTree>
  </p:cSld>
  <p:clrMapOvr>
    <a:masterClrMapping/>
  </p:clrMapOvr>
</p:sld>
</file>

<file path=ppt/theme/theme1.xml><?xml version="1.0" encoding="utf-8"?>
<a:theme xmlns:a="http://schemas.openxmlformats.org/drawingml/2006/main" name="QueueEase Presentation">
  <a:themeElements>
    <a:clrScheme name="QueueEase Presentation">
      <a:dk1>
        <a:srgbClr val="14213D"/>
      </a:dk1>
      <a:lt1>
        <a:srgbClr val="F6F4EE"/>
      </a:lt1>
      <a:dk2>
        <a:srgbClr val="4D5669"/>
      </a:dk2>
      <a:lt2>
        <a:srgbClr val="DFDFDC"/>
      </a:lt2>
      <a:accent1>
        <a:srgbClr val="F59E0B"/>
      </a:accent1>
      <a:accent2>
        <a:srgbClr val="2563EB"/>
      </a:accent2>
      <a:accent3>
        <a:srgbClr val="1F3159"/>
      </a:accent3>
      <a:accent4>
        <a:srgbClr val="D5DCEC"/>
      </a:accent4>
      <a:accent5>
        <a:srgbClr val="4A5568"/>
      </a:accent5>
      <a:accent6>
        <a:srgbClr val="C9D1E3"/>
      </a:accent6>
      <a:hlink>
        <a:srgbClr val="0563C1"/>
      </a:hlink>
      <a:folHlink>
        <a:srgbClr val="954F72"/>
      </a:folHlink>
    </a:clrScheme>
    <a:fontScheme name="QueueEase Presentation">
      <a:majorFont>
        <a:latin typeface="Helvetic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QueueEase Presentation</dc:title>
  <dc:subject/>
  <dc:creator/>
  <cp:lastModifiedBy/>
  <cp:revision>1</cp:revision>
  <dcterms:created xsi:type="dcterms:W3CDTF">2026-10-15T17:56:22Z</dcterms:created>
  <dcterms:modified xsi:type="dcterms:W3CDTF">2026-10-15T17:56:22Z</dcterms:modified>
</cp:coreProperties>
</file>